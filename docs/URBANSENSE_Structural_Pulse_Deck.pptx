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642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F1B2D"/>
                </a:solidFill>
              </a:defRPr>
            </a:pPr>
            <a:r>
              <a:t>URBANSENSE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7D93"/>
                </a:solidFill>
              </a:defRPr>
            </a:pPr>
            <a:r>
              <a:t>Structural Pulse — Continuous bridge-health screening using the buses already crossing the city.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6B7D93"/>
                </a:solidFill>
              </a:defRPr>
            </a:pPr>
            <a:r>
              <a:t>SIH 2026  •  PS 26124  BEL  •  Smart Automation  •  Theme: Mobile Urban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640080"/>
            <a:ext cx="2926080" cy="822960"/>
          </a:xfrm>
          <a:prstGeom prst="roundRect">
            <a:avLst/>
          </a:prstGeom>
          <a:solidFill>
            <a:srgbClr val="0B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731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Buses as mobile structural sensors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005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FFFFFF"/>
                </a:solidFill>
              </a:defRPr>
            </a:pPr>
            <a:r>
              <a:t>Not collapse prediction — flag for inspection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20240"/>
            <a:ext cx="110642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F1B2D"/>
                </a:solidFill>
              </a:defRPr>
            </a:pPr>
            <a:r>
              <a:t>One bus → many intelligences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2560320"/>
            <a:ext cx="1371600" cy="457200"/>
          </a:xfrm>
          <a:prstGeom prst="round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2606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</a:defRPr>
            </a:pPr>
            <a:r>
              <a:t>PUBLIC BUS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2918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B7D93"/>
                </a:solidFill>
              </a:defRPr>
            </a:pPr>
            <a: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32918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B7D93"/>
                </a:solidFill>
              </a:defRPr>
            </a:pPr>
            <a: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2918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B7D93"/>
                </a:solidFill>
              </a:defRPr>
            </a:pPr>
            <a: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3566160"/>
            <a:ext cx="1828800" cy="640080"/>
          </a:xfrm>
          <a:prstGeom prst="roundRect">
            <a:avLst/>
          </a:prstGeom>
          <a:solidFill>
            <a:srgbClr val="F8FAFB"/>
          </a:solidFill>
          <a:ln w="12700">
            <a:solidFill>
              <a:srgbClr val="E7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40" y="365760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0F1B2D"/>
                </a:solidFill>
              </a:defRPr>
            </a:pPr>
            <a:r>
              <a:t>Camera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88620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B7D93"/>
                </a:solidFill>
              </a:defRPr>
            </a:pPr>
            <a:r>
              <a:t>Road defects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66360" y="3566160"/>
            <a:ext cx="1828800" cy="640080"/>
          </a:xfrm>
          <a:prstGeom prst="roundRect">
            <a:avLst/>
          </a:prstGeom>
          <a:solidFill>
            <a:srgbClr val="F8FAFB"/>
          </a:solidFill>
          <a:ln w="12700">
            <a:solidFill>
              <a:srgbClr val="E7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7800" y="365760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0F1B2D"/>
                </a:solidFill>
              </a:defRPr>
            </a:pPr>
            <a:r>
              <a:t>GPS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388620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B7D93"/>
                </a:solidFill>
              </a:defRPr>
            </a:pPr>
            <a:r>
              <a:t>Location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566160"/>
            <a:ext cx="1828800" cy="640080"/>
          </a:xfrm>
          <a:prstGeom prst="roundRect">
            <a:avLst/>
          </a:prstGeom>
          <a:solidFill>
            <a:srgbClr val="F8FAFB"/>
          </a:solidFill>
          <a:ln w="12700">
            <a:solidFill>
              <a:srgbClr val="E7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365760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0F1B2D"/>
                </a:solidFill>
              </a:defRPr>
            </a:pPr>
            <a:r>
              <a:t>IMU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88620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B7D93"/>
                </a:solidFill>
              </a:defRPr>
            </a:pPr>
            <a:r>
              <a:t>Vibration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438912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B7D93"/>
                </a:solidFill>
              </a:defRPr>
            </a:pPr>
            <a: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4663440"/>
            <a:ext cx="3017520" cy="640080"/>
          </a:xfrm>
          <a:prstGeom prst="roundRect">
            <a:avLst/>
          </a:prstGeom>
          <a:solidFill>
            <a:srgbClr val="0B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47091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</a:defRPr>
            </a:pPr>
            <a:r>
              <a:t>URBANSENSE  →  Fusion (spatial + source diversity)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0" y="5486400"/>
            <a:ext cx="3200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20240" y="5532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0F1B2D"/>
                </a:solidFill>
              </a:defRPr>
            </a:pPr>
            <a:r>
              <a:t>Road condition</a:t>
            </a:r>
            <a:br/>
            <a:r>
              <a:t>Potholes, waterlogging, missing assets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0" y="5486400"/>
            <a:ext cx="3200400" cy="548640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0BB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0" y="5532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0F1B2D"/>
                </a:solidFill>
              </a:defRPr>
            </a:pPr>
            <a:r>
              <a:t>Structure health ★</a:t>
            </a:r>
            <a:br/>
            <a:r>
              <a:t>Bridge / ROB / Flyover screening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B7D93"/>
                </a:solidFill>
              </a:defRPr>
            </a:pPr>
            <a:r>
              <a:t>Problem → why buses?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F1B2D"/>
                </a:solidFill>
              </a:defRPr>
            </a:pPr>
            <a:r>
              <a:t>India has a huge inventory of bridges/ROBs/flyovers.</a:t>
            </a:r>
            <a:br/>
            <a:r>
              <a:t>Fixed instrumentation on every structure is expensive.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949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6B7D93"/>
                </a:solidFill>
              </a:defRPr>
            </a:pPr>
            <a:r>
              <a:t>Today (others):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0F1B2D"/>
                </a:solidFill>
              </a:defRPr>
            </a:pPr>
            <a:r>
              <a:t>bus camera → pothole → dashboard</a:t>
            </a:r>
            <a:br/>
            <a:r>
              <a:t>(camera carrier only)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E5484D"/>
                </a:solidFill>
              </a:defRPr>
            </a:pPr>
            <a:r>
              <a:t>Cost: 10–20L per bridge for fixed SHM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6B7D93"/>
                </a:solidFill>
              </a:defRPr>
            </a:pPr>
            <a:r>
              <a:t>Gap: Periodic inspection → visible deterioration tak pata hi nahi chalta.</a:t>
            </a:r>
            <a:br/>
            <a:r>
              <a:t>Research: vehicle dynamics / road-profile / sensor noise are major issues — one pass ≠ diagnosis.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394960" cy="4572000"/>
          </a:xfrm>
          <a:prstGeom prst="roundRect">
            <a:avLst/>
          </a:prstGeom>
          <a:solidFill>
            <a:srgbClr val="0B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FFFFFF"/>
                </a:solidFill>
              </a:defRPr>
            </a:pPr>
            <a:r>
              <a:t>Our jump: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</a:defRPr>
            </a:pPr>
            <a:r>
              <a:t>What if the bus can also sense the health</a:t>
            </a:r>
            <a:br/>
            <a:r>
              <a:t>of the infrastructure it physically travels over?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834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FFFFFF"/>
                </a:solidFill>
              </a:defRPr>
            </a:pPr>
            <a:r>
              <a:t>Fleet already traverses structures → temporary sensing nodes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747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</a:defRPr>
            </a:pPr>
            <a:r>
              <a:t>Benefit: Network-level screening without installing on every structure.</a:t>
            </a:r>
            <a:br/>
            <a:r>
              <a:t>BEL relevant: electronics + sensor signal processing.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B7D93"/>
                </a:solidFill>
              </a:defRPr>
            </a:pPr>
            <a:r>
              <a:t>Structural Pulse — Sense  •  Learn  •  Flag  (not collapse prediction)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F1B2D"/>
                </a:solidFill>
              </a:defRPr>
            </a:pPr>
            <a:r>
              <a:t>Continuous screening → inspection recommendation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00400" cy="457200"/>
          </a:xfrm>
          <a:prstGeom prst="roundRect">
            <a:avLst/>
          </a:prstGeom>
          <a:solidFill>
            <a:srgbClr val="0B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</a:defRPr>
            </a:pPr>
            <a:r>
              <a:t>SENSE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0F1B2D"/>
                </a:solidFill>
              </a:defRPr>
            </a:pPr>
            <a:r>
              <a:t>Smartphone IMU (50Hz) + GPS</a:t>
            </a:r>
            <a:br/>
            <a:r>
              <a:t>records bridge-crossing dynamics</a:t>
            </a:r>
            <a:br/>
            <a:r>
              <a:t>70m geofence, 1–3s batch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28016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63439" y="1463040"/>
            <a:ext cx="3200400" cy="457200"/>
          </a:xfrm>
          <a:prstGeom prst="round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59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</a:defRPr>
            </a:pPr>
            <a:r>
              <a:t>LEARN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10312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0F1B2D"/>
                </a:solidFill>
              </a:defRPr>
            </a:pPr>
            <a:r>
              <a:t>Per-structure EMA baseline</a:t>
            </a:r>
            <a:br/>
            <a:r>
              <a:t>f_dom + RMS + crest</a:t>
            </a:r>
            <a:br/>
            <a:r>
              <a:t>Longitudinal history 80 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28016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95360" y="1463040"/>
            <a:ext cx="3200400" cy="457200"/>
          </a:xfrm>
          <a:prstGeom prst="roundRect">
            <a:avLst/>
          </a:prstGeom>
          <a:solidFill>
            <a:srgbClr val="B77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</a:defRPr>
            </a:pPr>
            <a:r>
              <a:t>FLAG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10312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0F1B2D"/>
                </a:solidFill>
              </a:defRPr>
            </a:pPr>
            <a:r>
              <a:t>Persistent drift across buses</a:t>
            </a:r>
            <a:br/>
            <a:r>
              <a:t>→ ANOMALOUS</a:t>
            </a:r>
            <a:br/>
            <a:r>
              <a:t>Auto WO-BR-* + inspection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B7D93"/>
                </a:solidFill>
              </a:defRPr>
            </a:pPr>
            <a:r>
              <a:t>Correct claim:  “This bridge's observed dynamic response has changed enough from its baseline to warrant inspection.”   •   Screening layer, not certified inspection.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B7D93"/>
                </a:solidFill>
              </a:defRPr>
            </a:pPr>
            <a:r>
              <a:t>Architecture — one observation stream, not a separate product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22960"/>
            <a:ext cx="1106424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0F1B2D"/>
                </a:solidFill>
              </a:defRPr>
            </a:pPr>
            <a:r>
              <a:t>BUS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0F1B2D"/>
                </a:solidFill>
              </a:defRPr>
            </a:pPr>
            <a:r>
              <a:t>CAMERA</a:t>
            </a:r>
            <a:br/>
            <a:r>
              <a:t>Road AI → pothole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2801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0F1B2D"/>
                </a:solidFill>
              </a:defRPr>
            </a:pPr>
            <a:r>
              <a:t>GPS</a:t>
            </a:r>
            <a:br/>
            <a:r>
              <a:t>Location + speed + direction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2801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0F1B2D"/>
                </a:solidFill>
              </a:defRPr>
            </a:pPr>
            <a:r>
              <a:t>IMU</a:t>
            </a:r>
            <a:br/>
            <a:r>
              <a:t>Vibration → RMS/peak/crest</a:t>
            </a:r>
            <a:br/>
            <a:r>
              <a:t>+ FFT f_dom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6B7D93"/>
                </a:solidFill>
              </a:defRPr>
            </a:pPr>
            <a:r>
              <a:t>└───────────────┼───────────────┘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BB98A"/>
                </a:solidFill>
              </a:defRPr>
            </a:pPr>
            <a:r>
              <a:t>↓  OBSERVATION (phone accel + GPS, ~1KB JSON, ~1.6s on bridge)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2926080"/>
            <a:ext cx="3931920" cy="548640"/>
          </a:xfrm>
          <a:prstGeom prst="round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30175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</a:defRPr>
            </a:pPr>
            <a:r>
              <a:t>URBAN FUSION  (spatial + temporal + source diversity)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B7D93"/>
                </a:solidFill>
              </a:defRPr>
            </a:pPr>
            <a: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0F1B2D"/>
                </a:solidFill>
              </a:defRPr>
            </a:pPr>
            <a:r>
              <a:t>STRUCTURE / ROAD STATE  →  Health score  •  Work Order  •  GIS 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80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B7D93"/>
                </a:solidFill>
              </a:defRPr>
            </a:pPr>
            <a:r>
              <a:t>One bus tells:  road deteriorating  +  bridge anomalous  +  traffic rising  +  pedestrian 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B7D93"/>
                </a:solidFill>
              </a:defRPr>
            </a:pPr>
            <a:r>
              <a:t>Per-structure asset:  BRIDGE-DEL-042  •  dynamic baseline (f_dom, RMS, spectral)  •  environmental (speed, direction, time)  •  state NORMAL→WATCH→ANOMALOUS→INSPECTION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B7D93"/>
                </a:solidFill>
              </a:defRPr>
            </a:pPr>
            <a:r>
              <a:t>Reuse: Observation → Fusion → UrbanEvent • No new platform.   DOPT safe: no face/plate, only vibration.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B7D93"/>
                </a:solidFill>
              </a:defRPr>
            </a:pPr>
            <a:r>
              <a:t>Demo loop — 60 days in 60 seconds (killer version)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22960"/>
            <a:ext cx="35661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6B7D93"/>
                </a:solidFill>
              </a:defRPr>
            </a:pPr>
            <a:r>
              <a:t>DAY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0F1B2D"/>
                </a:solidFill>
              </a:defRPr>
            </a:pPr>
            <a:r>
              <a:t>BUS-017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B7D93"/>
                </a:solidFill>
              </a:defRPr>
            </a:pPr>
            <a:r>
              <a:t>Bridge 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0BB98A"/>
                </a:solidFill>
              </a:defRPr>
            </a:pPr>
            <a:r>
              <a:t>↓  Acceleration signature  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0F1B2D"/>
                </a:solidFill>
              </a:defRPr>
            </a:pPr>
            <a:r>
              <a:t>Baseline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651760"/>
            <a:ext cx="2468880" cy="548640"/>
          </a:xfrm>
          <a:prstGeom prst="roundRect">
            <a:avLst/>
          </a:prstGeom>
          <a:solidFill>
            <a:srgbClr val="0B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743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</a:defRPr>
            </a:pPr>
            <a:r>
              <a:t>Baseline created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822960"/>
            <a:ext cx="35661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39" y="9144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6B7D93"/>
                </a:solidFill>
              </a:defRPr>
            </a:pPr>
            <a:r>
              <a:t>DAY 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1188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0F1B2D"/>
                </a:solidFill>
              </a:defRPr>
            </a:pPr>
            <a:r>
              <a:t>BUS-042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146304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B7D93"/>
                </a:solidFill>
              </a:defRPr>
            </a:pPr>
            <a:r>
              <a:t>Bridge 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39" y="178308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0BB98A"/>
                </a:solidFill>
              </a:defRPr>
            </a:pPr>
            <a:r>
              <a:t>↓  Acceleration signature  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39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0F1B2D"/>
                </a:solidFill>
              </a:defRPr>
            </a:pPr>
            <a:r>
              <a:t>Matches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199" y="2651760"/>
            <a:ext cx="2468880" cy="548640"/>
          </a:xfrm>
          <a:prstGeom prst="roundRect">
            <a:avLst/>
          </a:prstGeom>
          <a:solidFill>
            <a:srgbClr val="0B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19" y="2743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</a:defRPr>
            </a:pPr>
            <a:r>
              <a:t>Matches baseline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822960"/>
            <a:ext cx="35661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9144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6B7D93"/>
                </a:solidFill>
              </a:defRPr>
            </a:pPr>
            <a:r>
              <a:t>DAY 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1188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0F1B2D"/>
                </a:solidFill>
              </a:defRPr>
            </a:pPr>
            <a:r>
              <a:t>BUS-017/042/103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146304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B7D93"/>
                </a:solidFill>
              </a:defRPr>
            </a:pPr>
            <a:r>
              <a:t>Bridge 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178308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0BB98A"/>
                </a:solidFill>
              </a:defRPr>
            </a:pPr>
            <a:r>
              <a:t>↓  Acceleration signature  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0F1B2D"/>
                </a:solidFill>
              </a:defRPr>
            </a:pPr>
            <a:r>
              <a:t>Repeated measurements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2651760"/>
            <a:ext cx="2468880" cy="548640"/>
          </a:xfrm>
          <a:prstGeom prst="roundRect">
            <a:avLst/>
          </a:prstGeom>
          <a:solidFill>
            <a:srgbClr val="E54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2743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</a:defRPr>
            </a:pPr>
            <a:r>
              <a:t>Statistically significant drift</a:t>
            </a:r>
            <a:br/>
            <a:r>
              <a:t>⚠ STRUCTURAL ANOMALY → Inspection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12064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E5484D"/>
                </a:solidFill>
              </a:defRPr>
            </a:pPr>
            <a:r>
              <a:t>The word DRIFT is important — we never claim ‘will collapse’.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6B7D93"/>
                </a:solidFill>
              </a:defRPr>
            </a:pPr>
            <a:r>
              <a:t>Judge Q: ‘Why buses vs sensors on bridge?’ → ‘Not another network to maintain. Fleet already crosses daily — network-scale without installing on every structure.’</a:t>
            </a:r>
            <a:br/>
            <a:r>
              <a:t>Judge Q: ‘Bridge vs bus?’ → Control for direction/speed + persistent across buses.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B7D93"/>
                </a:solidFill>
              </a:defRPr>
            </a:pPr>
            <a:r>
              <a:t>Why this wins — honest scores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F1B2D"/>
                </a:solidFill>
              </a:defRPr>
            </a:pPr>
            <a:r>
              <a:t>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960120"/>
            <a:ext cx="5486400" cy="182880"/>
          </a:xfrm>
          <a:prstGeom prst="roundRect">
            <a:avLst/>
          </a:prstGeom>
          <a:solidFill>
            <a:srgbClr val="E7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0" y="960120"/>
            <a:ext cx="5212080" cy="182880"/>
          </a:xfrm>
          <a:prstGeom prst="roundRect">
            <a:avLst/>
          </a:prstGeom>
          <a:solidFill>
            <a:srgbClr val="0B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914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F1B2D"/>
                </a:solidFill>
              </a:defRPr>
            </a:pPr>
            <a:r>
              <a:t>9.5/10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F1B2D"/>
                </a:solidFill>
              </a:defRPr>
            </a:pPr>
            <a:r>
              <a:t>Fit with 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737360"/>
            <a:ext cx="5486400" cy="182880"/>
          </a:xfrm>
          <a:prstGeom prst="roundRect">
            <a:avLst/>
          </a:prstGeom>
          <a:solidFill>
            <a:srgbClr val="E7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0" y="1737360"/>
            <a:ext cx="5212080" cy="182880"/>
          </a:xfrm>
          <a:prstGeom prst="roundRect">
            <a:avLst/>
          </a:prstGeom>
          <a:solidFill>
            <a:srgbClr val="0B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0" y="16916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F1B2D"/>
                </a:solidFill>
              </a:defRPr>
            </a:pPr>
            <a:r>
              <a:t>9.5/10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F1B2D"/>
                </a:solidFill>
              </a:defRPr>
            </a:pPr>
            <a:r>
              <a:t>Technical depth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2514600"/>
            <a:ext cx="5486400" cy="182880"/>
          </a:xfrm>
          <a:prstGeom prst="roundRect">
            <a:avLst/>
          </a:prstGeom>
          <a:solidFill>
            <a:srgbClr val="E7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0" y="2514600"/>
            <a:ext cx="4937760" cy="182880"/>
          </a:xfrm>
          <a:prstGeom prst="roundRect">
            <a:avLst/>
          </a:prstGeom>
          <a:solidFill>
            <a:srgbClr val="0B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24688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F1B2D"/>
                </a:solidFill>
              </a:defRPr>
            </a:pPr>
            <a:r>
              <a:t>9/10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F1B2D"/>
                </a:solidFill>
              </a:defRPr>
            </a:pPr>
            <a:r>
              <a:t>BEL relevance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3291840"/>
            <a:ext cx="5486400" cy="182880"/>
          </a:xfrm>
          <a:prstGeom prst="roundRect">
            <a:avLst/>
          </a:prstGeom>
          <a:solidFill>
            <a:srgbClr val="E7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57600" y="3291840"/>
            <a:ext cx="4937760" cy="182880"/>
          </a:xfrm>
          <a:prstGeom prst="roundRect">
            <a:avLst/>
          </a:prstGeom>
          <a:solidFill>
            <a:srgbClr val="0B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32461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F1B2D"/>
                </a:solidFill>
              </a:defRPr>
            </a:pPr>
            <a:r>
              <a:t>9/10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0233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F1B2D"/>
                </a:solidFill>
              </a:defRPr>
            </a:pPr>
            <a:r>
              <a:t>Demo potential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4069080"/>
            <a:ext cx="5486400" cy="182880"/>
          </a:xfrm>
          <a:prstGeom prst="roundRect">
            <a:avLst/>
          </a:prstGeom>
          <a:solidFill>
            <a:srgbClr val="E7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57600" y="4069080"/>
            <a:ext cx="4937760" cy="182880"/>
          </a:xfrm>
          <a:prstGeom prst="roundRect">
            <a:avLst/>
          </a:prstGeom>
          <a:solidFill>
            <a:srgbClr val="0B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40233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F1B2D"/>
                </a:solidFill>
              </a:defRPr>
            </a:pPr>
            <a:r>
              <a:t>9/10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00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F1B2D"/>
                </a:solidFill>
              </a:defRPr>
            </a:pPr>
            <a:r>
              <a:t>System novelty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4846320"/>
            <a:ext cx="5486400" cy="182880"/>
          </a:xfrm>
          <a:prstGeom prst="roundRect">
            <a:avLst/>
          </a:prstGeom>
          <a:solidFill>
            <a:srgbClr val="E7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657600" y="4846320"/>
            <a:ext cx="4663440" cy="182880"/>
          </a:xfrm>
          <a:prstGeom prst="roundRect">
            <a:avLst/>
          </a:prstGeom>
          <a:solidFill>
            <a:srgbClr val="0B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48006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F1B2D"/>
                </a:solidFill>
              </a:defRPr>
            </a:pPr>
            <a:r>
              <a:t>8.5/10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B7D93"/>
                </a:solidFill>
              </a:defRPr>
            </a:pPr>
            <a:r>
              <a:t>Science novelty 5/10 — drive-by SHM exists (2023 IoT, 2026 smartphone modal). Our novelty = fleet-scale screening as one layer of urban intelligence.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E5484D"/>
                </a:solidFill>
              </a:defRPr>
            </a:pPr>
            <a:r>
              <a:t>Warning: Build screening demonstrator (2–3 phones same flyover → f_dom/RMS → GIS yellow/red), not collapse proof.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